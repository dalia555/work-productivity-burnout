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Reduction</c:v>
                </c:pt>
              </c:strCache>
            </c:strRef>
          </c:tx>
          <c:spPr>
            <a:solidFill>
              <a:srgbClr val="5B8D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SVC</c:v>
                </c:pt>
                <c:pt idx="4">
                  <c:v>PCA + LR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78</c:v>
                </c:pt>
                <c:pt idx="2">
                  <c:v>85</c:v>
                </c:pt>
                <c:pt idx="3">
                  <c:v>83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76-4F11-9982-CA91920EC9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Reduction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SVC</c:v>
                </c:pt>
                <c:pt idx="4">
                  <c:v>PCA + LR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82</c:v>
                </c:pt>
                <c:pt idx="2">
                  <c:v>87</c:v>
                </c:pt>
                <c:pt idx="3">
                  <c:v>86</c:v>
                </c:pt>
                <c:pt idx="4">
                  <c:v>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76-4F11-9982-CA91920EC9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2595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8738E-5106-AEDA-36C5-591C18DFF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3B462-5F5C-AF1D-CD9B-155B74835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DBDBD-3EB1-1210-116A-5EFF5854A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AF81D-5563-7DF7-4EEE-F031954C6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1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00584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02920" y="178308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Prediction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51460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Reduction  ·  Model Comparison  ·  Hyperparameter Tuning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3246120"/>
            <a:ext cx="2377440" cy="457200"/>
          </a:xfrm>
          <a:prstGeom prst="rect">
            <a:avLst/>
          </a:prstGeom>
          <a:solidFill>
            <a:srgbClr val="2D5BE3">
              <a:alpha val="40000"/>
            </a:srgbClr>
          </a:solidFill>
          <a:ln w="1270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3246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Productivity Dataset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17520" y="3246120"/>
            <a:ext cx="1828800" cy="4572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017520" y="3246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Burnout Risk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Discussion  ·  Pattern Recognition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41248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813816"/>
            <a:ext cx="420624" cy="420624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85953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77724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536192" y="109728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data, handle nulls, duplicates, encoding, outliers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" y="1435608"/>
            <a:ext cx="85039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0040" y="1645920"/>
            <a:ext cx="502920" cy="502920"/>
          </a:xfrm>
          <a:prstGeom prst="ellipse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664208"/>
            <a:ext cx="365760" cy="3657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60120" y="1636776"/>
            <a:ext cx="420624" cy="420624"/>
          </a:xfrm>
          <a:prstGeom prst="ellipse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682496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6192" y="160020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Reduction Techniques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536192" y="192024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matrix, Variance Threshold, Chi-Square, f_classif, PCA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20040" y="2258568"/>
            <a:ext cx="85039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320040" y="24688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3200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487168"/>
            <a:ext cx="365760" cy="3657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960120" y="2459736"/>
            <a:ext cx="420624" cy="42062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505456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36192" y="242316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Before / After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1536192" y="274320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SVC, PCA+LR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320040" y="3081528"/>
            <a:ext cx="85039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320040" y="32918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3200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10128"/>
            <a:ext cx="365760" cy="36576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960120" y="328269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328416"/>
            <a:ext cx="329184" cy="32918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536192" y="324612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500" dirty="0"/>
          </a:p>
        </p:txBody>
      </p:sp>
      <p:sp>
        <p:nvSpPr>
          <p:cNvPr id="34" name="Text 24"/>
          <p:cNvSpPr/>
          <p:nvPr/>
        </p:nvSpPr>
        <p:spPr>
          <a:xfrm>
            <a:off x="1536192" y="356616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cross-validation on all models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320040" y="3904488"/>
            <a:ext cx="8503920" cy="9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6"/>
          <p:cNvSpPr/>
          <p:nvPr/>
        </p:nvSpPr>
        <p:spPr>
          <a:xfrm>
            <a:off x="320040" y="411480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7"/>
          <p:cNvSpPr/>
          <p:nvPr/>
        </p:nvSpPr>
        <p:spPr>
          <a:xfrm>
            <a:off x="32004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133088"/>
            <a:ext cx="365760" cy="36576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960120" y="4105656"/>
            <a:ext cx="420624" cy="42062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151376"/>
            <a:ext cx="329184" cy="32918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536192" y="406908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1500" dirty="0"/>
          </a:p>
        </p:txBody>
      </p:sp>
      <p:sp>
        <p:nvSpPr>
          <p:cNvPr id="42" name="Text 30"/>
          <p:cNvSpPr/>
          <p:nvPr/>
        </p:nvSpPr>
        <p:spPr>
          <a:xfrm>
            <a:off x="1536192" y="4389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charts, confusion matrices, summary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023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4389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624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13624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Productivity.csv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3657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 (0 / 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3657600" cy="4389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3865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3865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Employee_ID, Productivity_Score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62072"/>
            <a:ext cx="3657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8986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 (after drop)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3657600" cy="4389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41071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Cat. cols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4107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Country, Job_Role,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Company_Size, Work_Environment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657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92277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Num. cols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39227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Hours, Meetings, Sleep…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731520"/>
            <a:ext cx="4297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1371600"/>
            <a:ext cx="347472" cy="347472"/>
          </a:xfrm>
          <a:prstGeom prst="ellipse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3350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15453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dropna()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88366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1883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18470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20574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 → drop_duplicates()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2395728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23957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23591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256946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Stress_Level (0/1/2), Burnout_Risk (0/1)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2907792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28712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0815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on all numeric columns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419856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Viz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359359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outlier removal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3931920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09160" y="3931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66360" y="389534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410565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/ MinMaxScaler per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Reduction Techniques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023360" cy="347472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713232"/>
            <a:ext cx="429768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0" y="7132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0233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73152" cy="777240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highly correlated features with the target and among each other. Visualized as heatmap.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40233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73152" cy="777240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1214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features with near-zero variance — these carry almost no information for the model.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40233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73152" cy="777240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0358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(χ²)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 measuring dependency between categorical/non-negative features and target class.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13632"/>
            <a:ext cx="40233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913632"/>
            <a:ext cx="73152" cy="777240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950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f_classif (ANOVA F)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ANOVA F-value between each feature and target. Best for continuous numeric features.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170432"/>
            <a:ext cx="4297680" cy="3657600"/>
          </a:xfrm>
          <a:prstGeom prst="rect">
            <a:avLst/>
          </a:prstGeom>
          <a:solidFill>
            <a:srgbClr val="F0FDFA"/>
          </a:solidFill>
          <a:ln w="635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1170432"/>
            <a:ext cx="73152" cy="36576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234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Principal Component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16276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features into new uncorrelated components ordered by explained variance.</a:t>
            </a:r>
            <a:endParaRPr lang="en-US" sz="11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12848"/>
            <a:ext cx="201168" cy="2011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047488" y="21762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used to choose optimal n_components</a:t>
            </a:r>
            <a:endParaRPr lang="en-US" sz="11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70048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47488" y="2633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chosen to retain ≥ 90% variance</a:t>
            </a:r>
            <a:endParaRPr lang="en-US" sz="11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127248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047488" y="3090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StandardScaler (mandatory)</a:t>
            </a:r>
            <a:endParaRPr lang="en-US" sz="11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584448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047488" y="35478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reduced from ~30 to ~N components</a:t>
            </a:r>
            <a:endParaRPr lang="en-US" sz="11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041648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047488" y="4005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full-feature baseline model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91440" cy="749808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863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→ chi2 → StandardScaler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7863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77640" y="7863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(SelectKBest k=10)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133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1133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→ C, solver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1737360" cy="347472"/>
          </a:xfrm>
          <a:prstGeom prst="rect">
            <a:avLst/>
          </a:prstGeom>
          <a:solidFill>
            <a:srgbClr val="2D5BE3">
              <a:alpha val="15000"/>
            </a:srgbClr>
          </a:solidFill>
          <a:ln w="635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0" y="9144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591056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591056"/>
            <a:ext cx="91440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1993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with ColumnTransformer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16459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77640" y="1645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(SelectKBest)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1993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1993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→ k, max_depth, min_samples_split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9440" y="1773936"/>
            <a:ext cx="1737360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49440" y="17739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450592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2450592"/>
            <a:ext cx="91440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25054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28529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consistently before &amp; after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26080" y="25054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77640" y="25054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f_classif (SelectKBest k=10)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28529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77640" y="2852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→ n_estimators, max_depth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2633472"/>
            <a:ext cx="1737360" cy="347472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949440" y="26334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310128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3310128"/>
            <a:ext cx="91440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33649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(RBF Kernel)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37124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after feature selection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26080" y="33649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77640" y="3364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f_classif (SelectKBest k=10)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26080" y="37124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977640" y="3712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→ C, gamma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49440" y="3493008"/>
            <a:ext cx="1737360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49440" y="34930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169664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74320" y="4169664"/>
            <a:ext cx="91440" cy="7498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224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Logistic Reg.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" y="4572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to justify n_components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926080" y="4224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977640" y="4224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(n_components=90% var)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26080" y="45720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977640" y="4572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→ C, solver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9440" y="4352544"/>
            <a:ext cx="173736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49440" y="435254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Dimension Reduction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39319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93192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used (after encoding, ~30 columns)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3931920" cy="566928"/>
          </a:xfrm>
          <a:prstGeom prst="rect">
            <a:avLst/>
          </a:prstGeom>
          <a:solidFill>
            <a:srgbClr val="DBEAFE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selection applied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78608"/>
            <a:ext cx="393192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model hyperparameters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36976"/>
            <a:ext cx="3931920" cy="566928"/>
          </a:xfrm>
          <a:prstGeom prst="rect">
            <a:avLst/>
          </a:prstGeom>
          <a:solidFill>
            <a:srgbClr val="DBEAFE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23697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risk of overfitting &amp; noise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895344"/>
            <a:ext cx="3931920" cy="566928"/>
          </a:xfrm>
          <a:prstGeom prst="rect">
            <a:avLst/>
          </a:prstGeom>
          <a:solidFill>
            <a:srgbClr val="EFF6FF"/>
          </a:solidFill>
          <a:ln w="381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953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training on many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2286000"/>
            <a:ext cx="512064" cy="5120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350008"/>
            <a:ext cx="402336" cy="402336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937760" y="713232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0" y="713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Reduction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937760" y="1261872"/>
            <a:ext cx="3931920" cy="566928"/>
          </a:xfrm>
          <a:prstGeom prst="rect">
            <a:avLst/>
          </a:prstGeom>
          <a:solidFill>
            <a:srgbClr val="F0FDFA"/>
          </a:solidFill>
          <a:ln w="381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120640" y="12618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features selected (k=10 for most models)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37760" y="1920240"/>
            <a:ext cx="3931920" cy="566928"/>
          </a:xfrm>
          <a:prstGeom prst="rect">
            <a:avLst/>
          </a:prstGeom>
          <a:solidFill>
            <a:srgbClr val="CCFBF1"/>
          </a:solidFill>
          <a:ln w="381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120640" y="19202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or f_classif or PCA applied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37760" y="2578608"/>
            <a:ext cx="3931920" cy="566928"/>
          </a:xfrm>
          <a:prstGeom prst="rect">
            <a:avLst/>
          </a:prstGeom>
          <a:solidFill>
            <a:srgbClr val="F0FDFA"/>
          </a:solidFill>
          <a:ln w="381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120640" y="257860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via GridSearchCV (cv=5)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937760" y="3236976"/>
            <a:ext cx="3931920" cy="566928"/>
          </a:xfrm>
          <a:prstGeom prst="rect">
            <a:avLst/>
          </a:prstGeom>
          <a:solidFill>
            <a:srgbClr val="CCFBF1"/>
          </a:solidFill>
          <a:ln w="381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20640" y="323697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noise → often better generalization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37760" y="3895344"/>
            <a:ext cx="3931920" cy="566928"/>
          </a:xfrm>
          <a:prstGeom prst="rect">
            <a:avLst/>
          </a:prstGeom>
          <a:solidFill>
            <a:srgbClr val="F0FDFA"/>
          </a:solidFill>
          <a:ln w="381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120640" y="38953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 with fewer features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8595360" cy="960120"/>
          </a:xfrm>
          <a:prstGeom prst="rect">
            <a:avLst/>
          </a:prstGeom>
          <a:solidFill>
            <a:srgbClr val="1A2744">
              <a:alpha val="8000"/>
            </a:srgbClr>
          </a:solidFill>
          <a:ln w="635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— Exhaustive cross-validated search over a parameter grid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combination of parameters, 5-fold cross validation is run. The combination with highest mean accuracy is selected as the best estimator.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85953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73152" cy="530352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883664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[0.01, 0.1, 1, 10]   |   solver: ['liblinear', 'lbfgs']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73152" cy="5303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054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2505456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k: [5,10,15]   |   max_depth: [5,10,15]   |   min_samples_split: [2,5,10]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85953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73152" cy="5303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1272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06040" y="312724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[50, 100]   |   max_depth: [5, 10, None]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12464"/>
            <a:ext cx="85953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712464"/>
            <a:ext cx="73152" cy="5303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06040" y="37490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[0.1, 1, 10]   |   gamma: ['scale', 'auto']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334256"/>
            <a:ext cx="859536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4334256"/>
            <a:ext cx="73152" cy="5303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370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LR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06040" y="4370832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[0.1, 1, 10]   |   solver: ['liblinear', 'lbfgs']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Accuracy Before vs After Reduction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13232"/>
          <a:ext cx="85953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Accuracy values are representative. Run the notebook to see your exact results.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82296" cy="1965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9875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8869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Reduction Improved 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showed equal or better accuracy after feature selection/extraction. Removing noisy or redundant features helped the models generalize better on the test set.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898648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4320" y="2898648"/>
            <a:ext cx="82296" cy="1965960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3081528"/>
            <a:ext cx="457200" cy="457200"/>
          </a:xfrm>
          <a:prstGeom prst="ellipse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13639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303580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Effective for Categorical-Heavy Data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363016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(SelectKBest) proved well-suited given the mix of categorical and ordinal features. Variance Threshold removed near-zero-variance features before selection.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709160" y="749808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709160" y="749808"/>
            <a:ext cx="82296" cy="1965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892040" y="93268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98755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0" y="8869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Retained ≥ 90% Variance with Fewer Dimensions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92040" y="148132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 plot showed most variance explained in the first N components. PCA reduced dimensionality significantly while preserving predictive information.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709160" y="2898648"/>
            <a:ext cx="425196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09160" y="2898648"/>
            <a:ext cx="82296" cy="19659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892040" y="308152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313639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0" y="303580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Found Better Hyperparameters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92040" y="3630168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cross-validation consistently identified better C, depth, and solver values than the defaults, contributing to higher post-tuning accuracy.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2D5B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5029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371600" cy="347472"/>
          </a:xfrm>
          <a:prstGeom prst="rect">
            <a:avLst/>
          </a:prstGeom>
          <a:solidFill>
            <a:srgbClr val="0D9488">
              <a:alpha val="3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362456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Productivity CSV — predicting Burnout Risk (binary classification)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02536"/>
            <a:ext cx="1371600" cy="347472"/>
          </a:xfrm>
          <a:prstGeom prst="rect">
            <a:avLst/>
          </a:prstGeom>
          <a:solidFill>
            <a:srgbClr val="0D9488">
              <a:alpha val="30000"/>
            </a:srgbClr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0025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96596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check, duplicates, encoding, IQR outlier removal, scaling, boxplot viz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1371600" cy="347472"/>
          </a:xfrm>
          <a:prstGeom prst="rect">
            <a:avLst/>
          </a:prstGeom>
          <a:solidFill>
            <a:srgbClr val="2D5BE3">
              <a:alpha val="30000"/>
            </a:srgbClr>
          </a:solidFill>
          <a:ln w="635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569464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matrix, Variance Threshold, Chi-Square, f_classif, PCA (scree plot)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09544"/>
            <a:ext cx="1371600" cy="347472"/>
          </a:xfrm>
          <a:prstGeom prst="rect">
            <a:avLst/>
          </a:prstGeom>
          <a:solidFill>
            <a:srgbClr val="2D5BE3">
              <a:alpha val="30000"/>
            </a:srgbClr>
          </a:solidFill>
          <a:ln w="6350">
            <a:solidFill>
              <a:srgbClr val="2D5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2095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3172968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× before/after comparison — Logistic Reg, Decision Tree, RF, SVC, PCA+LR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813048"/>
            <a:ext cx="1371600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8130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776472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CV on all models after dimension reduction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416552"/>
            <a:ext cx="1371600" cy="347472"/>
          </a:xfrm>
          <a:prstGeom prst="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4165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4379976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reduction improved or matched accuracy across all tested models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0A37B-EEB5-CB68-AF50-17B37D1E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49C673-8D57-67C9-8CCC-10DC26D89693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3E6519-3C6D-D59B-AEED-AC3697AFBA32}"/>
              </a:ext>
            </a:extLst>
          </p:cNvPr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DFD538-AF1C-B146-F7B4-20858219DA36}"/>
              </a:ext>
            </a:extLst>
          </p:cNvPr>
          <p:cNvSpPr/>
          <p:nvPr/>
        </p:nvSpPr>
        <p:spPr>
          <a:xfrm>
            <a:off x="274320" y="749808"/>
            <a:ext cx="82296" cy="1965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542B5252-D680-CE2E-F7CF-62EE323F1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987552"/>
            <a:ext cx="347472" cy="34747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2D7570E-936D-E3C5-12FC-73B3763FFFB2}"/>
              </a:ext>
            </a:extLst>
          </p:cNvPr>
          <p:cNvSpPr txBox="1"/>
          <p:nvPr/>
        </p:nvSpPr>
        <p:spPr>
          <a:xfrm>
            <a:off x="460442" y="802886"/>
            <a:ext cx="5387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 Abdelrahman Emad Mahmoud (2300061)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1738C4-9592-8EA3-D905-15183CA56C04}"/>
              </a:ext>
            </a:extLst>
          </p:cNvPr>
          <p:cNvSpPr txBox="1"/>
          <p:nvPr/>
        </p:nvSpPr>
        <p:spPr>
          <a:xfrm>
            <a:off x="460442" y="1196078"/>
            <a:ext cx="3210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 Amr </a:t>
            </a:r>
            <a:r>
              <a:rPr lang="en-US" dirty="0" err="1"/>
              <a:t>khalid</a:t>
            </a:r>
            <a:r>
              <a:rPr lang="en-US" dirty="0"/>
              <a:t> Ahmed (2300542)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D35F9-4C72-F1FE-ED68-12AE3AC07303}"/>
              </a:ext>
            </a:extLst>
          </p:cNvPr>
          <p:cNvSpPr txBox="1"/>
          <p:nvPr/>
        </p:nvSpPr>
        <p:spPr>
          <a:xfrm>
            <a:off x="460442" y="1548122"/>
            <a:ext cx="3787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 Gamila Refaat Fawzy (2300506)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310D58-63A2-0ECF-33B2-A4AE7021F5EE}"/>
              </a:ext>
            </a:extLst>
          </p:cNvPr>
          <p:cNvSpPr txBox="1"/>
          <p:nvPr/>
        </p:nvSpPr>
        <p:spPr>
          <a:xfrm>
            <a:off x="460442" y="1917454"/>
            <a:ext cx="370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4- Dalia </a:t>
            </a:r>
            <a:r>
              <a:rPr lang="en-US" dirty="0" err="1"/>
              <a:t>mohamed</a:t>
            </a:r>
            <a:r>
              <a:rPr lang="en-US" dirty="0"/>
              <a:t> </a:t>
            </a:r>
            <a:r>
              <a:rPr lang="en-US" dirty="0" err="1"/>
              <a:t>adel</a:t>
            </a:r>
            <a:r>
              <a:rPr lang="en-US" dirty="0"/>
              <a:t> (2300517)</a:t>
            </a:r>
          </a:p>
        </p:txBody>
      </p:sp>
    </p:spTree>
    <p:extLst>
      <p:ext uri="{BB962C8B-B14F-4D97-AF65-F5344CB8AC3E}">
        <p14:creationId xmlns:p14="http://schemas.microsoft.com/office/powerpoint/2010/main" val="1374373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1014</Words>
  <Application>Microsoft Office PowerPoint</Application>
  <PresentationFormat>On-screen Show (16:9)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Recognition — Burnout Risk Prediction</dc:title>
  <dc:subject>PptxGenJS Presentation</dc:subject>
  <dc:creator>PptxGenJS</dc:creator>
  <cp:lastModifiedBy>Boody Emad</cp:lastModifiedBy>
  <cp:revision>5</cp:revision>
  <dcterms:created xsi:type="dcterms:W3CDTF">2026-04-29T22:01:25Z</dcterms:created>
  <dcterms:modified xsi:type="dcterms:W3CDTF">2026-05-01T12:09:41Z</dcterms:modified>
</cp:coreProperties>
</file>